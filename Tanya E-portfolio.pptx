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arlow Condensed Bold" panose="020B0604020202020204" charset="0"/>
      <p:regular r:id="rId11"/>
    </p:embeddedFont>
    <p:embeddedFont>
      <p:font typeface="Barlow Ultra-Bold" panose="020B0604020202020204" charset="0"/>
      <p:regular r:id="rId12"/>
    </p:embeddedFont>
    <p:embeddedFont>
      <p:font typeface="HK Grotesk Semi-Bold" panose="020B0604020202020204" charset="0"/>
      <p:regular r:id="rId13"/>
    </p:embeddedFont>
    <p:embeddedFont>
      <p:font typeface="Josefin Sans Semi-Bold" panose="020B0604020202020204" charset="0"/>
      <p:regular r:id="rId14"/>
    </p:embeddedFont>
    <p:embeddedFont>
      <p:font typeface="League Spartan" panose="020B060402020202020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20B0604020202020204" charset="0"/>
      <p:regular r:id="rId17"/>
    </p:embeddedFont>
    <p:embeddedFont>
      <p:font typeface="Poppins Medium" panose="00000600000000000000" pitchFamily="2" charset="0"/>
      <p:regular r:id="rId18"/>
    </p:embeddedFont>
    <p:embeddedFont>
      <p:font typeface="Poppins Semi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hyperlink" Target="https://drive.google.com/file/d/1zav2a1Wpv1y2orhSJoza4FHcSiU5Azoe/view?usp=drive_link&amp;utm_source=chatgpt.com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hyperlink" Target="https://docs.google.com/document/d/1e5A5UCYbq3Q6QEWAonGMYMaRkkL64yvY/edit?usp=drive_link&amp;ouid=113374886552038484793&amp;rtpof=true&amp;sd=true&amp;utm_source=chatgpt.com" TargetMode="External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5.png"/><Relationship Id="rId3" Type="http://schemas.openxmlformats.org/officeDocument/2006/relationships/image" Target="../media/image24.png"/><Relationship Id="rId21" Type="http://schemas.openxmlformats.org/officeDocument/2006/relationships/image" Target="../media/image40.png"/><Relationship Id="rId7" Type="http://schemas.openxmlformats.org/officeDocument/2006/relationships/image" Target="../media/image28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4.png"/><Relationship Id="rId2" Type="http://schemas.openxmlformats.org/officeDocument/2006/relationships/image" Target="../media/image23.png"/><Relationship Id="rId16" Type="http://schemas.openxmlformats.org/officeDocument/2006/relationships/image" Target="../media/image36.png"/><Relationship Id="rId20" Type="http://schemas.openxmlformats.org/officeDocument/2006/relationships/hyperlink" Target="https://docs.google.com/document/d/1hB0UKxelCWZZr0oYoS19fwiZmGAJt-a6/edit?usp=drive_link&amp;ouid=113374886552038484793&amp;rtpof=true&amp;sd=true" TargetMode="External"/><Relationship Id="rId29" Type="http://schemas.openxmlformats.org/officeDocument/2006/relationships/hyperlink" Target="https://docs.google.com/document/d/1iX6o-i_jYSK56NXaVjd-9XGHDcxSQ6_h/edit?usp=drive_link&amp;ouid=113374886552038484793&amp;rtpof=true&amp;sd=true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hyperlink" Target="https://docs.google.com/document/d/1e43l1sJHIamCEzGHiryL_PUU8MUNqwzB/edit?usp=drive_link&amp;ouid=113374886552038484793&amp;rtpof=true&amp;sd=true&amp;utm_source=chatgpt.com" TargetMode="External"/><Relationship Id="rId24" Type="http://schemas.openxmlformats.org/officeDocument/2006/relationships/image" Target="../media/image43.png"/><Relationship Id="rId5" Type="http://schemas.openxmlformats.org/officeDocument/2006/relationships/image" Target="../media/image26.png"/><Relationship Id="rId15" Type="http://schemas.openxmlformats.org/officeDocument/2006/relationships/image" Target="../media/image35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4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sv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hyperlink" Target="https://www.linkedin.com/in/tanya-chauhan-4231b6431?utm_source=chatgpt.com" TargetMode="External"/><Relationship Id="rId5" Type="http://schemas.openxmlformats.org/officeDocument/2006/relationships/image" Target="../media/image82.png"/><Relationship Id="rId10" Type="http://schemas.openxmlformats.org/officeDocument/2006/relationships/image" Target="../media/image87.svg"/><Relationship Id="rId4" Type="http://schemas.openxmlformats.org/officeDocument/2006/relationships/image" Target="../media/image81.png"/><Relationship Id="rId9" Type="http://schemas.openxmlformats.org/officeDocument/2006/relationships/image" Target="../media/image8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111175" y="0"/>
            <a:ext cx="0" cy="10287000"/>
          </a:xfrm>
          <a:prstGeom prst="line">
            <a:avLst/>
          </a:prstGeom>
          <a:ln w="19050" cap="flat">
            <a:solidFill>
              <a:srgbClr val="3E3E3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2700000">
            <a:off x="3125623" y="8262697"/>
            <a:ext cx="502015" cy="502015"/>
          </a:xfrm>
          <a:custGeom>
            <a:avLst/>
            <a:gdLst/>
            <a:ahLst/>
            <a:cxnLst/>
            <a:rect l="l" t="t" r="r" b="b"/>
            <a:pathLst>
              <a:path w="502015" h="502015">
                <a:moveTo>
                  <a:pt x="0" y="0"/>
                </a:moveTo>
                <a:lnTo>
                  <a:pt x="502015" y="0"/>
                </a:lnTo>
                <a:lnTo>
                  <a:pt x="502015" y="502016"/>
                </a:lnTo>
                <a:lnTo>
                  <a:pt x="0" y="5020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11175" y="6916825"/>
            <a:ext cx="16176825" cy="3370175"/>
          </a:xfrm>
          <a:custGeom>
            <a:avLst/>
            <a:gdLst/>
            <a:ahLst/>
            <a:cxnLst/>
            <a:rect l="l" t="t" r="r" b="b"/>
            <a:pathLst>
              <a:path w="16372562" h="3370175">
                <a:moveTo>
                  <a:pt x="0" y="0"/>
                </a:moveTo>
                <a:lnTo>
                  <a:pt x="16372561" y="0"/>
                </a:lnTo>
                <a:lnTo>
                  <a:pt x="16372561" y="3370175"/>
                </a:lnTo>
                <a:lnTo>
                  <a:pt x="0" y="33701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5539" b="-2639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19075" y="1019175"/>
            <a:ext cx="1673025" cy="25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869"/>
              </a:lnSpc>
            </a:pPr>
            <a:r>
              <a:rPr lang="en-US" sz="1699" b="1">
                <a:solidFill>
                  <a:srgbClr val="83463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PGDM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87465" y="1558653"/>
            <a:ext cx="2415122" cy="20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49"/>
              </a:lnSpc>
            </a:pPr>
            <a:r>
              <a:rPr lang="en-US" sz="1499">
                <a:solidFill>
                  <a:srgbClr val="8346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E-PORTFOLIO  2026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9075" y="1336826"/>
            <a:ext cx="1673025" cy="30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99"/>
              </a:lnSpc>
            </a:pPr>
            <a:r>
              <a:rPr lang="en-US" sz="1999" b="1">
                <a:solidFill>
                  <a:srgbClr val="3E3E3E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FIIB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48017" y="2979777"/>
            <a:ext cx="12353586" cy="2524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56"/>
              </a:lnSpc>
            </a:pPr>
            <a:r>
              <a:rPr lang="en-US" sz="9756">
                <a:solidFill>
                  <a:srgbClr val="8346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TANYA SINGH</a:t>
            </a:r>
          </a:p>
          <a:p>
            <a:pPr marL="0" lvl="0" indent="0" algn="l">
              <a:lnSpc>
                <a:spcPts val="9756"/>
              </a:lnSpc>
            </a:pPr>
            <a:r>
              <a:rPr lang="en-US" sz="9756">
                <a:solidFill>
                  <a:srgbClr val="8346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CHAUHAN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47925" y="5674995"/>
            <a:ext cx="12353925" cy="28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999">
                <a:solidFill>
                  <a:srgbClr val="8346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Learning and Unlearning. Creating Impact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318553" y="1487638"/>
            <a:ext cx="6198048" cy="9311807"/>
          </a:xfrm>
          <a:custGeom>
            <a:avLst/>
            <a:gdLst/>
            <a:ahLst/>
            <a:cxnLst/>
            <a:rect l="l" t="t" r="r" b="b"/>
            <a:pathLst>
              <a:path w="6165184" h="9311807">
                <a:moveTo>
                  <a:pt x="0" y="0"/>
                </a:moveTo>
                <a:lnTo>
                  <a:pt x="6165184" y="0"/>
                </a:lnTo>
                <a:lnTo>
                  <a:pt x="6165184" y="9311807"/>
                </a:lnTo>
                <a:lnTo>
                  <a:pt x="0" y="9311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35" t="-10472" r="-7930" b="-4153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0080" y="1761789"/>
            <a:ext cx="467269" cy="4124158"/>
          </a:xfrm>
          <a:custGeom>
            <a:avLst/>
            <a:gdLst/>
            <a:ahLst/>
            <a:cxnLst/>
            <a:rect l="l" t="t" r="r" b="b"/>
            <a:pathLst>
              <a:path w="467269" h="4124158">
                <a:moveTo>
                  <a:pt x="0" y="0"/>
                </a:moveTo>
                <a:lnTo>
                  <a:pt x="467269" y="0"/>
                </a:lnTo>
                <a:lnTo>
                  <a:pt x="467269" y="4124158"/>
                </a:lnTo>
                <a:lnTo>
                  <a:pt x="0" y="41241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277850" y="3857625"/>
            <a:ext cx="1962150" cy="1504950"/>
          </a:xfrm>
          <a:custGeom>
            <a:avLst/>
            <a:gdLst/>
            <a:ahLst/>
            <a:cxnLst/>
            <a:rect l="l" t="t" r="r" b="b"/>
            <a:pathLst>
              <a:path w="1962150" h="1504950">
                <a:moveTo>
                  <a:pt x="0" y="0"/>
                </a:moveTo>
                <a:lnTo>
                  <a:pt x="1962150" y="0"/>
                </a:lnTo>
                <a:lnTo>
                  <a:pt x="196215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451711" y="476667"/>
            <a:ext cx="6420187" cy="9381708"/>
          </a:xfrm>
          <a:custGeom>
            <a:avLst/>
            <a:gdLst/>
            <a:ahLst/>
            <a:cxnLst/>
            <a:rect l="l" t="t" r="r" b="b"/>
            <a:pathLst>
              <a:path w="6420187" h="9381708">
                <a:moveTo>
                  <a:pt x="0" y="0"/>
                </a:moveTo>
                <a:lnTo>
                  <a:pt x="6420187" y="0"/>
                </a:lnTo>
                <a:lnTo>
                  <a:pt x="6420187" y="9381708"/>
                </a:lnTo>
                <a:lnTo>
                  <a:pt x="0" y="9381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374" r="-2292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40080" y="600492"/>
            <a:ext cx="7132320" cy="837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58"/>
              </a:lnSpc>
            </a:pPr>
            <a:r>
              <a:rPr lang="en-US" sz="6358" spc="-317">
                <a:solidFill>
                  <a:srgbClr val="824F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My Journey So Far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3715" y="6785044"/>
            <a:ext cx="8572500" cy="2497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  <a:spcBef>
                <a:spcPct val="0"/>
              </a:spcBef>
            </a:pPr>
            <a:r>
              <a:rPr lang="en-US" sz="1800" u="none" strike="noStrike">
                <a:solidFill>
                  <a:srgbClr val="3E3E3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After completing my B.Com in 2022, I spent the next phase preparing for CAT and OMETS while exploring my path towards management education. I then took on an active role in my family’s reading-room business, gaining hands-on exposure to operations, people and decision-making, while simultaneously upskilling through Excel, Power BI, Business Analysis and other certifications. Today, my PGDM at FIIB is allowing me to build on that practical foundation and explore how I can contribute at the intersection of people, business and problem-solving.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73715" y="9494520"/>
            <a:ext cx="7662672" cy="363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700">
                <a:solidFill>
                  <a:srgbClr val="49362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PEOPLE × BUSINESS × PROBLEM-SOLVING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31952" y="5709473"/>
            <a:ext cx="1883664" cy="65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90"/>
              </a:lnSpc>
            </a:pPr>
            <a:r>
              <a:rPr lang="en-US" sz="2069">
                <a:solidFill>
                  <a:srgbClr val="493628">
                    <a:alpha val="19608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YOUR PHOTO</a:t>
            </a:r>
          </a:p>
          <a:p>
            <a:pPr algn="ctr">
              <a:lnSpc>
                <a:spcPts val="2690"/>
              </a:lnSpc>
            </a:pPr>
            <a:r>
              <a:rPr lang="en-US" sz="2069">
                <a:solidFill>
                  <a:srgbClr val="493628">
                    <a:alpha val="19608"/>
                  </a:srgbClr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HERE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800" y="2062389"/>
            <a:ext cx="1022899" cy="324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4"/>
              </a:lnSpc>
            </a:pPr>
            <a:r>
              <a:rPr lang="en-US" sz="2424" spc="-121">
                <a:solidFill>
                  <a:srgbClr val="824F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5800" y="2460387"/>
            <a:ext cx="1095964" cy="298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2236" b="1">
                <a:solidFill>
                  <a:srgbClr val="49362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B.COM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85800" y="3061531"/>
            <a:ext cx="1729187" cy="32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88"/>
              </a:lnSpc>
            </a:pPr>
            <a:r>
              <a:rPr lang="en-US" sz="2488" spc="-124">
                <a:solidFill>
                  <a:srgbClr val="824F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2022–23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800" y="3460761"/>
            <a:ext cx="4578692" cy="29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2261" b="1">
                <a:solidFill>
                  <a:srgbClr val="49362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CAT + OMETS PREPARATION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5800" y="4116920"/>
            <a:ext cx="1729187" cy="337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519" spc="-125">
                <a:solidFill>
                  <a:srgbClr val="824F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2023–26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85800" y="4502027"/>
            <a:ext cx="2898215" cy="731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261" b="1">
                <a:solidFill>
                  <a:srgbClr val="49362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FAMILY BUSINESS</a:t>
            </a:r>
          </a:p>
          <a:p>
            <a:pPr algn="l">
              <a:lnSpc>
                <a:spcPts val="2940"/>
              </a:lnSpc>
            </a:pPr>
            <a:r>
              <a:rPr lang="en-US" sz="2261" b="1">
                <a:solidFill>
                  <a:srgbClr val="49362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+ UPSKILLING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800" y="5491316"/>
            <a:ext cx="2800796" cy="34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78"/>
              </a:lnSpc>
            </a:pPr>
            <a:r>
              <a:rPr lang="en-US" sz="2678" spc="-133">
                <a:solidFill>
                  <a:srgbClr val="824F3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2026–Present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800" y="5924047"/>
            <a:ext cx="2094508" cy="299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61"/>
              </a:lnSpc>
              <a:spcBef>
                <a:spcPct val="0"/>
              </a:spcBef>
            </a:pPr>
            <a:r>
              <a:rPr lang="en-US" sz="2261" b="1" u="none" strike="noStrike">
                <a:solidFill>
                  <a:srgbClr val="493628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PGDM @ FIIB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2973" y="3224760"/>
            <a:ext cx="1579531" cy="1247709"/>
          </a:xfrm>
          <a:custGeom>
            <a:avLst/>
            <a:gdLst/>
            <a:ahLst/>
            <a:cxnLst/>
            <a:rect l="l" t="t" r="r" b="b"/>
            <a:pathLst>
              <a:path w="1579531" h="1247709">
                <a:moveTo>
                  <a:pt x="0" y="0"/>
                </a:moveTo>
                <a:lnTo>
                  <a:pt x="1579531" y="0"/>
                </a:lnTo>
                <a:lnTo>
                  <a:pt x="1579531" y="1247708"/>
                </a:lnTo>
                <a:lnTo>
                  <a:pt x="0" y="12477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196" b="-1219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02973" y="4969343"/>
            <a:ext cx="11001774" cy="253958"/>
          </a:xfrm>
          <a:custGeom>
            <a:avLst/>
            <a:gdLst/>
            <a:ahLst/>
            <a:cxnLst/>
            <a:rect l="l" t="t" r="r" b="b"/>
            <a:pathLst>
              <a:path w="11001774" h="253958">
                <a:moveTo>
                  <a:pt x="0" y="0"/>
                </a:moveTo>
                <a:lnTo>
                  <a:pt x="11001774" y="0"/>
                </a:lnTo>
                <a:lnTo>
                  <a:pt x="11001774" y="253959"/>
                </a:lnTo>
                <a:lnTo>
                  <a:pt x="0" y="2539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2196" b="-1219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2973" y="5212260"/>
            <a:ext cx="1263624" cy="1247709"/>
          </a:xfrm>
          <a:custGeom>
            <a:avLst/>
            <a:gdLst/>
            <a:ahLst/>
            <a:cxnLst/>
            <a:rect l="l" t="t" r="r" b="b"/>
            <a:pathLst>
              <a:path w="1263624" h="1247709">
                <a:moveTo>
                  <a:pt x="0" y="0"/>
                </a:moveTo>
                <a:lnTo>
                  <a:pt x="1263625" y="0"/>
                </a:lnTo>
                <a:lnTo>
                  <a:pt x="1263625" y="1247709"/>
                </a:lnTo>
                <a:lnTo>
                  <a:pt x="0" y="12477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196" b="-1219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513820" y="0"/>
            <a:ext cx="6415228" cy="10287000"/>
          </a:xfrm>
          <a:custGeom>
            <a:avLst/>
            <a:gdLst/>
            <a:ahLst/>
            <a:cxnLst/>
            <a:rect l="l" t="t" r="r" b="b"/>
            <a:pathLst>
              <a:path w="6415228" h="10287000">
                <a:moveTo>
                  <a:pt x="0" y="0"/>
                </a:moveTo>
                <a:lnTo>
                  <a:pt x="6415228" y="0"/>
                </a:lnTo>
                <a:lnTo>
                  <a:pt x="641522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7" t="-473" r="-509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6150" y="657571"/>
            <a:ext cx="9470115" cy="142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19"/>
              </a:lnSpc>
            </a:pPr>
            <a:r>
              <a:rPr lang="en-US" sz="9433">
                <a:solidFill>
                  <a:srgbClr val="824E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EXPERIENCE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8893" y="2106678"/>
            <a:ext cx="6645566" cy="50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sz="2969">
                <a:solidFill>
                  <a:srgbClr val="824E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Family Business Experience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5685" y="3424363"/>
            <a:ext cx="7146621" cy="5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3263">
                <a:solidFill>
                  <a:srgbClr val="824E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Surya Library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5685" y="3939008"/>
            <a:ext cx="5775313" cy="47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749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Reading Room | Kanpur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87457" y="5606639"/>
            <a:ext cx="4113922" cy="548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3263">
                <a:solidFill>
                  <a:srgbClr val="824E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 handled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8893" y="6372022"/>
            <a:ext cx="12289023" cy="2985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6534" lvl="1" indent="-198267" algn="l">
              <a:lnSpc>
                <a:spcPts val="4040"/>
              </a:lnSpc>
              <a:buFont typeface="Arial"/>
              <a:buChar char="•"/>
            </a:pPr>
            <a:r>
              <a:rPr lang="en-US" sz="1836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Managed day-to-day operations of a 180-seat reading facility</a:t>
            </a:r>
          </a:p>
          <a:p>
            <a:pPr marL="396534" lvl="1" indent="-198267" algn="l">
              <a:lnSpc>
                <a:spcPts val="4040"/>
              </a:lnSpc>
              <a:buFont typeface="Arial"/>
              <a:buChar char="•"/>
            </a:pPr>
            <a:r>
              <a:rPr lang="en-US" sz="1836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Coordinated staff and customer requirements</a:t>
            </a:r>
          </a:p>
          <a:p>
            <a:pPr marL="396534" lvl="1" indent="-198267" algn="l">
              <a:lnSpc>
                <a:spcPts val="4040"/>
              </a:lnSpc>
              <a:buFont typeface="Arial"/>
              <a:buChar char="•"/>
            </a:pPr>
            <a:r>
              <a:rPr lang="en-US" sz="1836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Handled operational decisions and issue resolution</a:t>
            </a:r>
          </a:p>
          <a:p>
            <a:pPr marL="396534" lvl="1" indent="-198267" algn="l">
              <a:lnSpc>
                <a:spcPts val="4040"/>
              </a:lnSpc>
              <a:buFont typeface="Arial"/>
              <a:buChar char="•"/>
            </a:pPr>
            <a:r>
              <a:rPr lang="en-US" sz="1836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Managed electricity/utilities and facility-related expenses</a:t>
            </a:r>
          </a:p>
          <a:p>
            <a:pPr marL="396534" lvl="1" indent="-198267" algn="l">
              <a:lnSpc>
                <a:spcPts val="4040"/>
              </a:lnSpc>
              <a:buFont typeface="Arial"/>
              <a:buChar char="•"/>
            </a:pPr>
            <a:r>
              <a:rPr lang="en-US" sz="1836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Interacted directly with customers and understood their expectations</a:t>
            </a:r>
          </a:p>
          <a:p>
            <a:pPr marL="396534" lvl="1" indent="-198267" algn="l">
              <a:lnSpc>
                <a:spcPts val="4040"/>
              </a:lnSpc>
              <a:buFont typeface="Arial"/>
              <a:buChar char="•"/>
            </a:pPr>
            <a:r>
              <a:rPr lang="en-US" sz="1836">
                <a:solidFill>
                  <a:srgbClr val="4B4B4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Worked with limited manpower to keep daily operations running smoothly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383045" y="2781300"/>
            <a:ext cx="1235930" cy="1076325"/>
          </a:xfrm>
          <a:custGeom>
            <a:avLst/>
            <a:gdLst/>
            <a:ahLst/>
            <a:cxnLst/>
            <a:rect l="l" t="t" r="r" b="b"/>
            <a:pathLst>
              <a:path w="1235930" h="1076325">
                <a:moveTo>
                  <a:pt x="0" y="0"/>
                </a:moveTo>
                <a:lnTo>
                  <a:pt x="1235930" y="0"/>
                </a:lnTo>
                <a:lnTo>
                  <a:pt x="123593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415" b="-641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283267" y="3209925"/>
            <a:ext cx="247186" cy="6219825"/>
          </a:xfrm>
          <a:custGeom>
            <a:avLst/>
            <a:gdLst/>
            <a:ahLst/>
            <a:cxnLst/>
            <a:rect l="l" t="t" r="r" b="b"/>
            <a:pathLst>
              <a:path w="247186" h="6219825">
                <a:moveTo>
                  <a:pt x="0" y="0"/>
                </a:moveTo>
                <a:lnTo>
                  <a:pt x="247186" y="0"/>
                </a:lnTo>
                <a:lnTo>
                  <a:pt x="247186" y="6219825"/>
                </a:lnTo>
                <a:lnTo>
                  <a:pt x="0" y="6219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415" b="-641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519706" y="2781300"/>
            <a:ext cx="1246677" cy="1076325"/>
          </a:xfrm>
          <a:custGeom>
            <a:avLst/>
            <a:gdLst/>
            <a:ahLst/>
            <a:cxnLst/>
            <a:rect l="l" t="t" r="r" b="b"/>
            <a:pathLst>
              <a:path w="1246677" h="1076325">
                <a:moveTo>
                  <a:pt x="0" y="0"/>
                </a:moveTo>
                <a:lnTo>
                  <a:pt x="1246677" y="0"/>
                </a:lnTo>
                <a:lnTo>
                  <a:pt x="1246677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6415" b="-641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24603" y="6000750"/>
            <a:ext cx="10564513" cy="219075"/>
          </a:xfrm>
          <a:custGeom>
            <a:avLst/>
            <a:gdLst/>
            <a:ahLst/>
            <a:cxnLst/>
            <a:rect l="l" t="t" r="r" b="b"/>
            <a:pathLst>
              <a:path w="10564513" h="219075">
                <a:moveTo>
                  <a:pt x="0" y="0"/>
                </a:moveTo>
                <a:lnTo>
                  <a:pt x="10564514" y="0"/>
                </a:lnTo>
                <a:lnTo>
                  <a:pt x="10564514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6415" b="-641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83045" y="6429375"/>
            <a:ext cx="1235930" cy="1076325"/>
          </a:xfrm>
          <a:custGeom>
            <a:avLst/>
            <a:gdLst/>
            <a:ahLst/>
            <a:cxnLst/>
            <a:rect l="l" t="t" r="r" b="b"/>
            <a:pathLst>
              <a:path w="1235930" h="1076325">
                <a:moveTo>
                  <a:pt x="0" y="0"/>
                </a:moveTo>
                <a:lnTo>
                  <a:pt x="1235930" y="0"/>
                </a:lnTo>
                <a:lnTo>
                  <a:pt x="123593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6415" b="-641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519706" y="6429375"/>
            <a:ext cx="1246677" cy="1076325"/>
          </a:xfrm>
          <a:custGeom>
            <a:avLst/>
            <a:gdLst/>
            <a:ahLst/>
            <a:cxnLst/>
            <a:rect l="l" t="t" r="r" b="b"/>
            <a:pathLst>
              <a:path w="1246677" h="1076325">
                <a:moveTo>
                  <a:pt x="0" y="0"/>
                </a:moveTo>
                <a:lnTo>
                  <a:pt x="1246677" y="0"/>
                </a:lnTo>
                <a:lnTo>
                  <a:pt x="1246677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6415" b="-641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144369" y="2178391"/>
            <a:ext cx="5893088" cy="8108609"/>
          </a:xfrm>
          <a:custGeom>
            <a:avLst/>
            <a:gdLst/>
            <a:ahLst/>
            <a:cxnLst/>
            <a:rect l="l" t="t" r="r" b="b"/>
            <a:pathLst>
              <a:path w="5893088" h="8108609">
                <a:moveTo>
                  <a:pt x="0" y="0"/>
                </a:moveTo>
                <a:lnTo>
                  <a:pt x="5893088" y="0"/>
                </a:lnTo>
                <a:lnTo>
                  <a:pt x="5893088" y="8108609"/>
                </a:lnTo>
                <a:lnTo>
                  <a:pt x="0" y="81086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02" t="-7119" b="-712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144369" y="1074325"/>
            <a:ext cx="3059584" cy="1132046"/>
          </a:xfrm>
          <a:custGeom>
            <a:avLst/>
            <a:gdLst/>
            <a:ahLst/>
            <a:cxnLst/>
            <a:rect l="l" t="t" r="r" b="b"/>
            <a:pathLst>
              <a:path w="3059584" h="1132046">
                <a:moveTo>
                  <a:pt x="0" y="0"/>
                </a:moveTo>
                <a:lnTo>
                  <a:pt x="3059584" y="0"/>
                </a:lnTo>
                <a:lnTo>
                  <a:pt x="3059584" y="1132046"/>
                </a:lnTo>
                <a:lnTo>
                  <a:pt x="0" y="1132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2442" y="836919"/>
            <a:ext cx="14237912" cy="744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95"/>
              </a:lnSpc>
            </a:pPr>
            <a:r>
              <a:rPr lang="en-US" sz="5695">
                <a:solidFill>
                  <a:srgbClr val="864B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 ANALYSIS SIMULATION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2442" y="1796201"/>
            <a:ext cx="10441135" cy="772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864B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Procurement Process Automation Project</a:t>
            </a:r>
          </a:p>
          <a:p>
            <a:pPr algn="l">
              <a:lnSpc>
                <a:spcPts val="3084"/>
              </a:lnSpc>
            </a:pPr>
            <a:endParaRPr lang="en-US" sz="2203">
              <a:solidFill>
                <a:srgbClr val="864B32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29887" y="3713893"/>
            <a:ext cx="4106296" cy="90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Fragmented, manual procurement processes leading to approval delays, errors and limited visibility.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40918" y="3074801"/>
            <a:ext cx="2372985" cy="36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>
                <a:solidFill>
                  <a:srgbClr val="864B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MY APPROACH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9887" y="6705677"/>
            <a:ext cx="3301545" cy="355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>
                <a:solidFill>
                  <a:srgbClr val="864B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 WORKED 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99648" y="6695825"/>
            <a:ext cx="2682505" cy="36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>
                <a:solidFill>
                  <a:srgbClr val="864B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 LEARNED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9887" y="3115949"/>
            <a:ext cx="2187273" cy="365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>
                <a:solidFill>
                  <a:srgbClr val="864B3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40918" y="3706844"/>
            <a:ext cx="3838046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Analysed the BRD &amp; mapped stakeholder workflows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40918" y="4447508"/>
            <a:ext cx="3838046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Converted requirements → user stories → acceptance criteria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40918" y="5188172"/>
            <a:ext cx="3714238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Translated requirements into a visual system concept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29887" y="7338441"/>
            <a:ext cx="4168200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• 17 user stories + Given-When-Then acceptance criteria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29887" y="8130254"/>
            <a:ext cx="3776142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• Requiflex wireframes designed from scratch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9887" y="8932640"/>
            <a:ext cx="3012660" cy="60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• Final presentation of the proposed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99648" y="7355491"/>
            <a:ext cx="3838046" cy="90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• How to translate business needs into clear, testable system requirements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99648" y="8538496"/>
            <a:ext cx="3838046" cy="907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7"/>
              </a:lnSpc>
            </a:pPr>
            <a:r>
              <a:rPr lang="en-US" sz="1762" b="1">
                <a:solidFill>
                  <a:srgbClr val="4C3124"/>
                </a:solidFill>
                <a:latin typeface="Josefin Sans Semi-Bold"/>
                <a:ea typeface="Josefin Sans Semi-Bold"/>
                <a:cs typeface="Josefin Sans Semi-Bold"/>
                <a:sym typeface="Josefin Sans Semi-Bold"/>
              </a:rPr>
              <a:t>• How business analysis connects process, technology &amp; user experience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86924E-2E42-A92D-9439-A244FB0B9C20}"/>
              </a:ext>
            </a:extLst>
          </p:cNvPr>
          <p:cNvSpPr txBox="1"/>
          <p:nvPr/>
        </p:nvSpPr>
        <p:spPr>
          <a:xfrm flipH="1">
            <a:off x="15260387" y="811912"/>
            <a:ext cx="1813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League Spartan" panose="020B0604020202020204" charset="0"/>
                <a:hlinkClick r:id="rId11"/>
              </a:rPr>
              <a:t>My project</a:t>
            </a:r>
            <a:endParaRPr lang="en-IN" b="1" dirty="0">
              <a:latin typeface="League Spartan" panose="020B0604020202020204" charset="0"/>
            </a:endParaRP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50005B-07DE-DEE1-5744-5D409B6DE7FD}"/>
              </a:ext>
            </a:extLst>
          </p:cNvPr>
          <p:cNvSpPr txBox="1"/>
          <p:nvPr/>
        </p:nvSpPr>
        <p:spPr>
          <a:xfrm>
            <a:off x="15306464" y="1135077"/>
            <a:ext cx="31068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>
                <a:solidFill>
                  <a:srgbClr val="0000FF"/>
                </a:solidFill>
                <a:latin typeface="League Spartan" panose="020B060402020202020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Requiflex</a:t>
            </a:r>
            <a:r>
              <a:rPr lang="en-IN" dirty="0">
                <a:solidFill>
                  <a:schemeClr val="tx2"/>
                </a:solidFill>
                <a:latin typeface="League Spartan" panose="020B060402020202020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Wireframes</a:t>
            </a:r>
            <a:endParaRPr lang="en-IN" dirty="0">
              <a:solidFill>
                <a:schemeClr val="tx2"/>
              </a:solidFill>
              <a:latin typeface="League Spartan" panose="020B0604020202020204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462837" y="0"/>
            <a:ext cx="19750837" cy="10287000"/>
          </a:xfrm>
          <a:custGeom>
            <a:avLst/>
            <a:gdLst/>
            <a:ahLst/>
            <a:cxnLst/>
            <a:rect l="l" t="t" r="r" b="b"/>
            <a:pathLst>
              <a:path w="19750837" h="10287000">
                <a:moveTo>
                  <a:pt x="0" y="0"/>
                </a:moveTo>
                <a:lnTo>
                  <a:pt x="19750837" y="0"/>
                </a:lnTo>
                <a:lnTo>
                  <a:pt x="1975083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966" r="-60" b="-3966"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9550" y="209550"/>
            <a:ext cx="17868900" cy="3438525"/>
          </a:xfrm>
          <a:custGeom>
            <a:avLst/>
            <a:gdLst/>
            <a:ahLst/>
            <a:cxnLst/>
            <a:rect l="l" t="t" r="r" b="b"/>
            <a:pathLst>
              <a:path w="17868900" h="3438525">
                <a:moveTo>
                  <a:pt x="0" y="0"/>
                </a:moveTo>
                <a:lnTo>
                  <a:pt x="17868900" y="0"/>
                </a:lnTo>
                <a:lnTo>
                  <a:pt x="178689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58368" y="834871"/>
            <a:ext cx="1024128" cy="1172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02"/>
              </a:lnSpc>
            </a:pPr>
            <a:r>
              <a:rPr lang="en-US" sz="8302" b="1" spc="-249">
                <a:solidFill>
                  <a:srgbClr val="9F5A34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1924050"/>
            <a:ext cx="1095375" cy="1295400"/>
          </a:xfrm>
          <a:custGeom>
            <a:avLst/>
            <a:gdLst/>
            <a:ahLst/>
            <a:cxnLst/>
            <a:rect l="l" t="t" r="r" b="b"/>
            <a:pathLst>
              <a:path w="1095375" h="1295400">
                <a:moveTo>
                  <a:pt x="0" y="0"/>
                </a:moveTo>
                <a:lnTo>
                  <a:pt x="1095375" y="0"/>
                </a:lnTo>
                <a:lnTo>
                  <a:pt x="1095375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952625" y="857250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67712" y="946892"/>
            <a:ext cx="2249424" cy="91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3576" b="1">
                <a:solidFill>
                  <a:srgbClr val="22283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MANAGERIAL REALITIES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67712" y="1972520"/>
            <a:ext cx="3511296" cy="26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2"/>
              </a:lnSpc>
            </a:pPr>
            <a:r>
              <a:rPr lang="en-US" sz="1551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Human Behaviour in Organisations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638175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803136" y="848868"/>
            <a:ext cx="1225296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Worked on: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3136" y="1246870"/>
            <a:ext cx="3950208" cy="710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5"/>
              </a:lnSpc>
            </a:pPr>
            <a:r>
              <a:rPr lang="en-US" sz="1209">
                <a:solidFill>
                  <a:srgbClr val="222831"/>
                </a:solidFill>
                <a:latin typeface="Poppins"/>
                <a:ea typeface="Poppins"/>
                <a:cs typeface="Poppins"/>
                <a:sym typeface="Poppins"/>
              </a:rPr>
              <a:t>Conducted 8 industry interviews and compared managerial perspectives on teamwork, motivation, conflict and managerial skills with QB concepts.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096000" y="21431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803136" y="2612612"/>
            <a:ext cx="3675888" cy="48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sz="1256">
                <a:solidFill>
                  <a:srgbClr val="222831"/>
                </a:solidFill>
                <a:latin typeface="Poppins"/>
                <a:ea typeface="Poppins"/>
                <a:cs typeface="Poppins"/>
                <a:sym typeface="Poppins"/>
              </a:rPr>
              <a:t>Theory provides a framework, practice requires adapting it to people and context.</a:t>
            </a:r>
          </a:p>
        </p:txBody>
      </p:sp>
      <p:sp>
        <p:nvSpPr>
          <p:cNvPr id="14" name="Freeform 14"/>
          <p:cNvSpPr/>
          <p:nvPr/>
        </p:nvSpPr>
        <p:spPr>
          <a:xfrm>
            <a:off x="11096625" y="209550"/>
            <a:ext cx="4362450" cy="3219450"/>
          </a:xfrm>
          <a:custGeom>
            <a:avLst/>
            <a:gdLst/>
            <a:ahLst/>
            <a:cxnLst/>
            <a:rect l="l" t="t" r="r" b="b"/>
            <a:pathLst>
              <a:path w="4362450" h="3219450">
                <a:moveTo>
                  <a:pt x="0" y="0"/>
                </a:moveTo>
                <a:lnTo>
                  <a:pt x="4362450" y="0"/>
                </a:lnTo>
                <a:lnTo>
                  <a:pt x="43624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240000" y="857250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668625" y="2571750"/>
            <a:ext cx="2190750" cy="647700"/>
          </a:xfrm>
          <a:custGeom>
            <a:avLst/>
            <a:gdLst/>
            <a:ahLst/>
            <a:cxnLst/>
            <a:rect l="l" t="t" r="r" b="b"/>
            <a:pathLst>
              <a:path w="2190750" h="647700">
                <a:moveTo>
                  <a:pt x="0" y="0"/>
                </a:moveTo>
                <a:lnTo>
                  <a:pt x="2190750" y="0"/>
                </a:lnTo>
                <a:lnTo>
                  <a:pt x="2190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      </a:t>
            </a:r>
            <a:r>
              <a:rPr lang="en-IN" dirty="0">
                <a:latin typeface="League Spartan" panose="020B0604020202020204" charset="0"/>
                <a:hlinkClick r:id="rId11"/>
              </a:rPr>
              <a:t>My project</a:t>
            </a:r>
            <a:endParaRPr lang="en-IN" dirty="0">
              <a:latin typeface="League Spartan" panose="020B0604020202020204" charset="0"/>
            </a:endParaRPr>
          </a:p>
          <a:p>
            <a:endParaRPr lang="en-IN" dirty="0"/>
          </a:p>
        </p:txBody>
      </p:sp>
      <p:sp>
        <p:nvSpPr>
          <p:cNvPr id="17" name="Freeform 17"/>
          <p:cNvSpPr/>
          <p:nvPr/>
        </p:nvSpPr>
        <p:spPr>
          <a:xfrm>
            <a:off x="209550" y="3429000"/>
            <a:ext cx="17868900" cy="3429000"/>
          </a:xfrm>
          <a:custGeom>
            <a:avLst/>
            <a:gdLst/>
            <a:ahLst/>
            <a:cxnLst/>
            <a:rect l="l" t="t" r="r" b="b"/>
            <a:pathLst>
              <a:path w="17868900" h="3429000">
                <a:moveTo>
                  <a:pt x="0" y="0"/>
                </a:moveTo>
                <a:lnTo>
                  <a:pt x="17868900" y="0"/>
                </a:lnTo>
                <a:lnTo>
                  <a:pt x="178689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03504" y="4032835"/>
            <a:ext cx="1170432" cy="1124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8"/>
              </a:lnSpc>
            </a:pPr>
            <a:r>
              <a:rPr lang="en-US" sz="7908" b="1" spc="-237">
                <a:solidFill>
                  <a:srgbClr val="9F5A34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id="19" name="Freeform 19"/>
          <p:cNvSpPr/>
          <p:nvPr/>
        </p:nvSpPr>
        <p:spPr>
          <a:xfrm>
            <a:off x="647700" y="5353050"/>
            <a:ext cx="876300" cy="866775"/>
          </a:xfrm>
          <a:custGeom>
            <a:avLst/>
            <a:gdLst/>
            <a:ahLst/>
            <a:cxnLst/>
            <a:rect l="l" t="t" r="r" b="b"/>
            <a:pathLst>
              <a:path w="876300" h="866775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952625" y="4067175"/>
            <a:ext cx="228600" cy="1295400"/>
          </a:xfrm>
          <a:custGeom>
            <a:avLst/>
            <a:gdLst/>
            <a:ahLst/>
            <a:cxnLst/>
            <a:rect l="l" t="t" r="r" b="b"/>
            <a:pathLst>
              <a:path w="228600" h="1295400">
                <a:moveTo>
                  <a:pt x="0" y="0"/>
                </a:moveTo>
                <a:lnTo>
                  <a:pt x="228600" y="0"/>
                </a:lnTo>
                <a:lnTo>
                  <a:pt x="228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2267712" y="4178856"/>
            <a:ext cx="3767328" cy="80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3131" b="1">
                <a:solidFill>
                  <a:srgbClr val="22283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REAL-WORLD</a:t>
            </a:r>
          </a:p>
          <a:p>
            <a:pPr algn="l">
              <a:lnSpc>
                <a:spcPts val="3131"/>
              </a:lnSpc>
            </a:pPr>
            <a:r>
              <a:rPr lang="en-US" sz="3131" b="1">
                <a:solidFill>
                  <a:srgbClr val="22283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BRAND POSITIONING AUDIT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267712" y="5137594"/>
            <a:ext cx="279806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2"/>
              </a:lnSpc>
            </a:pPr>
            <a:r>
              <a:rPr lang="en-US" sz="1518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STP | Infant &amp; Baby Category</a:t>
            </a:r>
          </a:p>
          <a:p>
            <a:pPr algn="l">
              <a:lnSpc>
                <a:spcPts val="1822"/>
              </a:lnSpc>
            </a:pPr>
            <a:r>
              <a:rPr lang="en-US" sz="1518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Marketing–In–Practice</a:t>
            </a:r>
          </a:p>
        </p:txBody>
      </p:sp>
      <p:sp>
        <p:nvSpPr>
          <p:cNvPr id="23" name="Freeform 23"/>
          <p:cNvSpPr/>
          <p:nvPr/>
        </p:nvSpPr>
        <p:spPr>
          <a:xfrm>
            <a:off x="6096000" y="3857625"/>
            <a:ext cx="657225" cy="857250"/>
          </a:xfrm>
          <a:custGeom>
            <a:avLst/>
            <a:gdLst/>
            <a:ahLst/>
            <a:cxnLst/>
            <a:rect l="l" t="t" r="r" b="b"/>
            <a:pathLst>
              <a:path w="657225" h="857250">
                <a:moveTo>
                  <a:pt x="0" y="0"/>
                </a:moveTo>
                <a:lnTo>
                  <a:pt x="657225" y="0"/>
                </a:lnTo>
                <a:lnTo>
                  <a:pt x="6572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6803136" y="4078986"/>
            <a:ext cx="1225296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Worked on: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03136" y="4463510"/>
            <a:ext cx="4005072" cy="983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sz="1256">
                <a:solidFill>
                  <a:srgbClr val="222831"/>
                </a:solidFill>
                <a:latin typeface="Poppins"/>
                <a:ea typeface="Poppins"/>
                <a:cs typeface="Poppins"/>
                <a:sym typeface="Poppins"/>
              </a:rPr>
              <a:t>Visited Mothercare, Mi Arcs &amp; FirstDry at Ambience Mall, analysing store environment, pricing, assortment, customers and communication to connect field observations with brand positioning.</a:t>
            </a:r>
          </a:p>
        </p:txBody>
      </p:sp>
      <p:sp>
        <p:nvSpPr>
          <p:cNvPr id="26" name="Freeform 26"/>
          <p:cNvSpPr/>
          <p:nvPr/>
        </p:nvSpPr>
        <p:spPr>
          <a:xfrm>
            <a:off x="6096000" y="5572125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803136" y="6027896"/>
            <a:ext cx="3401568" cy="48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0"/>
              </a:lnSpc>
            </a:pPr>
            <a:r>
              <a:rPr lang="en-US" sz="1256">
                <a:solidFill>
                  <a:srgbClr val="222831"/>
                </a:solidFill>
                <a:latin typeface="Poppins"/>
                <a:ea typeface="Poppins"/>
                <a:cs typeface="Poppins"/>
                <a:sym typeface="Poppins"/>
              </a:rPr>
              <a:t>Positioning is experienced through what the consumer sees, feels and encounters.</a:t>
            </a:r>
          </a:p>
        </p:txBody>
      </p:sp>
      <p:sp>
        <p:nvSpPr>
          <p:cNvPr id="28" name="Freeform 28"/>
          <p:cNvSpPr/>
          <p:nvPr/>
        </p:nvSpPr>
        <p:spPr>
          <a:xfrm>
            <a:off x="10877550" y="3638550"/>
            <a:ext cx="5238750" cy="2790825"/>
          </a:xfrm>
          <a:custGeom>
            <a:avLst/>
            <a:gdLst/>
            <a:ahLst/>
            <a:cxnLst/>
            <a:rect l="l" t="t" r="r" b="b"/>
            <a:pathLst>
              <a:path w="5238750" h="2790825">
                <a:moveTo>
                  <a:pt x="0" y="0"/>
                </a:moveTo>
                <a:lnTo>
                  <a:pt x="5238750" y="0"/>
                </a:lnTo>
                <a:lnTo>
                  <a:pt x="5238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5887700" y="4067175"/>
            <a:ext cx="447675" cy="647700"/>
          </a:xfrm>
          <a:custGeom>
            <a:avLst/>
            <a:gdLst/>
            <a:ahLst/>
            <a:cxnLst/>
            <a:rect l="l" t="t" r="r" b="b"/>
            <a:pathLst>
              <a:path w="447675" h="647700">
                <a:moveTo>
                  <a:pt x="0" y="0"/>
                </a:moveTo>
                <a:lnTo>
                  <a:pt x="447675" y="0"/>
                </a:lnTo>
                <a:lnTo>
                  <a:pt x="44767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5668625" y="5781675"/>
            <a:ext cx="2190750" cy="647700"/>
          </a:xfrm>
          <a:custGeom>
            <a:avLst/>
            <a:gdLst/>
            <a:ahLst/>
            <a:cxnLst/>
            <a:rect l="l" t="t" r="r" b="b"/>
            <a:pathLst>
              <a:path w="2190750" h="647700">
                <a:moveTo>
                  <a:pt x="0" y="0"/>
                </a:moveTo>
                <a:lnTo>
                  <a:pt x="2190750" y="0"/>
                </a:lnTo>
                <a:lnTo>
                  <a:pt x="2190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r>
              <a:rPr lang="en-US" dirty="0"/>
              <a:t>      </a:t>
            </a:r>
          </a:p>
          <a:p>
            <a:r>
              <a:rPr lang="en-US" dirty="0"/>
              <a:t>       </a:t>
            </a:r>
            <a:r>
              <a:rPr lang="en-IN" dirty="0">
                <a:latin typeface="League Spartan" panose="020B0604020202020204" charset="0"/>
                <a:hlinkClick r:id="rId20"/>
              </a:rPr>
              <a:t>My project</a:t>
            </a:r>
            <a:endParaRPr lang="en-IN" dirty="0">
              <a:latin typeface="League Spartan" panose="020B0604020202020204" charset="0"/>
            </a:endParaRPr>
          </a:p>
          <a:p>
            <a:endParaRPr lang="en-IN" dirty="0"/>
          </a:p>
        </p:txBody>
      </p:sp>
      <p:sp>
        <p:nvSpPr>
          <p:cNvPr id="31" name="Freeform 31"/>
          <p:cNvSpPr/>
          <p:nvPr/>
        </p:nvSpPr>
        <p:spPr>
          <a:xfrm>
            <a:off x="209550" y="6638925"/>
            <a:ext cx="17868900" cy="3438525"/>
          </a:xfrm>
          <a:custGeom>
            <a:avLst/>
            <a:gdLst/>
            <a:ahLst/>
            <a:cxnLst/>
            <a:rect l="l" t="t" r="r" b="b"/>
            <a:pathLst>
              <a:path w="17868900" h="3438525">
                <a:moveTo>
                  <a:pt x="0" y="0"/>
                </a:moveTo>
                <a:lnTo>
                  <a:pt x="17868900" y="0"/>
                </a:lnTo>
                <a:lnTo>
                  <a:pt x="1786890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03504" y="7229514"/>
            <a:ext cx="1170432" cy="109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76"/>
              </a:lnSpc>
            </a:pPr>
            <a:r>
              <a:rPr lang="en-US" sz="7676" b="1" spc="-230">
                <a:solidFill>
                  <a:srgbClr val="9F5A34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id="33" name="Freeform 33"/>
          <p:cNvSpPr/>
          <p:nvPr/>
        </p:nvSpPr>
        <p:spPr>
          <a:xfrm>
            <a:off x="647700" y="83534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952625" y="7286625"/>
            <a:ext cx="228600" cy="1285875"/>
          </a:xfrm>
          <a:custGeom>
            <a:avLst/>
            <a:gdLst/>
            <a:ahLst/>
            <a:cxnLst/>
            <a:rect l="l" t="t" r="r" b="b"/>
            <a:pathLst>
              <a:path w="228600" h="1285875">
                <a:moveTo>
                  <a:pt x="0" y="0"/>
                </a:moveTo>
                <a:lnTo>
                  <a:pt x="228600" y="0"/>
                </a:lnTo>
                <a:lnTo>
                  <a:pt x="2286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267712" y="7230957"/>
            <a:ext cx="3511296" cy="1007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4"/>
              </a:lnSpc>
            </a:pPr>
            <a:r>
              <a:rPr lang="en-US" sz="3576" b="1">
                <a:solidFill>
                  <a:srgbClr val="22283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NUTCREST</a:t>
            </a:r>
          </a:p>
          <a:p>
            <a:pPr algn="l">
              <a:lnSpc>
                <a:spcPts val="3934"/>
              </a:lnSpc>
            </a:pPr>
            <a:r>
              <a:rPr lang="en-US" sz="3576" b="1">
                <a:solidFill>
                  <a:srgbClr val="222831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GLOBAL FOODWORKS</a:t>
            </a:r>
          </a:p>
        </p:txBody>
      </p:sp>
      <p:sp>
        <p:nvSpPr>
          <p:cNvPr id="36" name="Freeform 36"/>
          <p:cNvSpPr/>
          <p:nvPr/>
        </p:nvSpPr>
        <p:spPr>
          <a:xfrm>
            <a:off x="6096000" y="7067550"/>
            <a:ext cx="657225" cy="866775"/>
          </a:xfrm>
          <a:custGeom>
            <a:avLst/>
            <a:gdLst/>
            <a:ahLst/>
            <a:cxnLst/>
            <a:rect l="l" t="t" r="r" b="b"/>
            <a:pathLst>
              <a:path w="657225" h="866775">
                <a:moveTo>
                  <a:pt x="0" y="0"/>
                </a:moveTo>
                <a:lnTo>
                  <a:pt x="657225" y="0"/>
                </a:lnTo>
                <a:lnTo>
                  <a:pt x="6572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6803136" y="7278243"/>
            <a:ext cx="1225296" cy="291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Worked on: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03136" y="7623739"/>
            <a:ext cx="3858768" cy="1020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7"/>
              </a:lnSpc>
            </a:pPr>
            <a:r>
              <a:rPr lang="en-US" sz="1279">
                <a:solidFill>
                  <a:srgbClr val="222831"/>
                </a:solidFill>
                <a:latin typeface="Poppins"/>
                <a:ea typeface="Poppins"/>
                <a:cs typeface="Poppins"/>
                <a:sym typeface="Poppins"/>
              </a:rPr>
              <a:t>Studied a commercial poultry farm through field observation and owner interaction, analysing labour, capital, technology and production using the Cobb Douglas framework.</a:t>
            </a:r>
          </a:p>
        </p:txBody>
      </p:sp>
      <p:sp>
        <p:nvSpPr>
          <p:cNvPr id="39" name="Freeform 39"/>
          <p:cNvSpPr/>
          <p:nvPr/>
        </p:nvSpPr>
        <p:spPr>
          <a:xfrm>
            <a:off x="6096000" y="8782050"/>
            <a:ext cx="657225" cy="647700"/>
          </a:xfrm>
          <a:custGeom>
            <a:avLst/>
            <a:gdLst/>
            <a:ahLst/>
            <a:cxnLst/>
            <a:rect l="l" t="t" r="r" b="b"/>
            <a:pathLst>
              <a:path w="657225" h="647700">
                <a:moveTo>
                  <a:pt x="0" y="0"/>
                </a:moveTo>
                <a:lnTo>
                  <a:pt x="657225" y="0"/>
                </a:lnTo>
                <a:lnTo>
                  <a:pt x="657225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6803136" y="9244417"/>
            <a:ext cx="4005072" cy="463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7"/>
              </a:lnSpc>
            </a:pPr>
            <a:r>
              <a:rPr lang="en-US" sz="1185">
                <a:solidFill>
                  <a:srgbClr val="222831"/>
                </a:solidFill>
                <a:latin typeface="Poppins"/>
                <a:ea typeface="Poppins"/>
                <a:cs typeface="Poppins"/>
                <a:sym typeface="Poppins"/>
              </a:rPr>
              <a:t>Economic concepts became practical when applied to resource allocation and production decisions.</a:t>
            </a:r>
          </a:p>
        </p:txBody>
      </p:sp>
      <p:sp>
        <p:nvSpPr>
          <p:cNvPr id="41" name="Freeform 41"/>
          <p:cNvSpPr/>
          <p:nvPr/>
        </p:nvSpPr>
        <p:spPr>
          <a:xfrm>
            <a:off x="10877550" y="6858000"/>
            <a:ext cx="5457825" cy="3000375"/>
          </a:xfrm>
          <a:custGeom>
            <a:avLst/>
            <a:gdLst/>
            <a:ahLst/>
            <a:cxnLst/>
            <a:rect l="l" t="t" r="r" b="b"/>
            <a:pathLst>
              <a:path w="5457825" h="3000375">
                <a:moveTo>
                  <a:pt x="0" y="0"/>
                </a:moveTo>
                <a:lnTo>
                  <a:pt x="5457825" y="0"/>
                </a:lnTo>
                <a:lnTo>
                  <a:pt x="5457825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5668625" y="7286625"/>
            <a:ext cx="885825" cy="857250"/>
          </a:xfrm>
          <a:custGeom>
            <a:avLst/>
            <a:gdLst/>
            <a:ahLst/>
            <a:cxnLst/>
            <a:rect l="l" t="t" r="r" b="b"/>
            <a:pathLst>
              <a:path w="885825" h="857250">
                <a:moveTo>
                  <a:pt x="0" y="0"/>
                </a:moveTo>
                <a:lnTo>
                  <a:pt x="885825" y="0"/>
                </a:lnTo>
                <a:lnTo>
                  <a:pt x="8858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5701772" y="8841152"/>
            <a:ext cx="2190750" cy="807673"/>
          </a:xfrm>
          <a:custGeom>
            <a:avLst/>
            <a:gdLst/>
            <a:ahLst/>
            <a:cxnLst/>
            <a:rect l="l" t="t" r="r" b="b"/>
            <a:pathLst>
              <a:path w="2190750" h="647700">
                <a:moveTo>
                  <a:pt x="0" y="0"/>
                </a:moveTo>
                <a:lnTo>
                  <a:pt x="2190750" y="0"/>
                </a:lnTo>
                <a:lnTo>
                  <a:pt x="2190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  <p:txBody>
          <a:bodyPr/>
          <a:lstStyle/>
          <a:p>
            <a:r>
              <a:rPr lang="en-IN" dirty="0">
                <a:hlinkClick r:id="rId29"/>
              </a:rPr>
              <a:t>       </a:t>
            </a:r>
          </a:p>
          <a:p>
            <a:r>
              <a:rPr lang="en-IN" dirty="0"/>
              <a:t>        </a:t>
            </a:r>
            <a:r>
              <a:rPr lang="en-IN" dirty="0">
                <a:latin typeface="League Spartan" panose="020B0604020202020204" charset="0"/>
                <a:hlinkClick r:id="rId29"/>
              </a:rPr>
              <a:t>My project</a:t>
            </a:r>
            <a:endParaRPr lang="en-IN" dirty="0">
              <a:latin typeface="League Spartan" panose="020B0604020202020204" charset="0"/>
            </a:endParaRPr>
          </a:p>
          <a:p>
            <a:endParaRPr lang="en-IN" dirty="0"/>
          </a:p>
        </p:txBody>
      </p:sp>
      <p:sp>
        <p:nvSpPr>
          <p:cNvPr id="44" name="TextBox 44"/>
          <p:cNvSpPr txBox="1"/>
          <p:nvPr/>
        </p:nvSpPr>
        <p:spPr>
          <a:xfrm>
            <a:off x="2267712" y="8336590"/>
            <a:ext cx="2395728" cy="283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8"/>
              </a:lnSpc>
            </a:pPr>
            <a:r>
              <a:rPr lang="en-US" sz="1584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Managerial Economics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03136" y="2291763"/>
            <a:ext cx="859536" cy="27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Learned: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803136" y="5665899"/>
            <a:ext cx="859536" cy="27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Learned: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803136" y="8875443"/>
            <a:ext cx="859536" cy="27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6"/>
              </a:lnSpc>
            </a:pPr>
            <a:r>
              <a:rPr lang="en-US" sz="1518" b="1">
                <a:solidFill>
                  <a:srgbClr val="9F5A3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Learned: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9808" y="911176"/>
            <a:ext cx="10789920" cy="82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1"/>
              </a:lnSpc>
            </a:pPr>
            <a:r>
              <a:rPr lang="en-US" sz="6161">
                <a:solidFill>
                  <a:srgbClr val="8F4F2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SKILLS I'VE BUILT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9808" y="2029694"/>
            <a:ext cx="11283696" cy="44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1">
                <a:solidFill>
                  <a:srgbClr val="8F4F2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 mix of business understanding, analytical thinking and people skills</a:t>
            </a:r>
          </a:p>
        </p:txBody>
      </p:sp>
      <p:sp>
        <p:nvSpPr>
          <p:cNvPr id="5" name="Freeform 5"/>
          <p:cNvSpPr/>
          <p:nvPr/>
        </p:nvSpPr>
        <p:spPr>
          <a:xfrm>
            <a:off x="647700" y="3000375"/>
            <a:ext cx="8496300" cy="2571750"/>
          </a:xfrm>
          <a:custGeom>
            <a:avLst/>
            <a:gdLst/>
            <a:ahLst/>
            <a:cxnLst/>
            <a:rect l="l" t="t" r="r" b="b"/>
            <a:pathLst>
              <a:path w="8496300" h="2571750">
                <a:moveTo>
                  <a:pt x="0" y="0"/>
                </a:moveTo>
                <a:lnTo>
                  <a:pt x="8496300" y="0"/>
                </a:lnTo>
                <a:lnTo>
                  <a:pt x="8496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6" name="Freeform 6"/>
          <p:cNvSpPr/>
          <p:nvPr/>
        </p:nvSpPr>
        <p:spPr>
          <a:xfrm>
            <a:off x="1085850" y="3429000"/>
            <a:ext cx="1533525" cy="1714500"/>
          </a:xfrm>
          <a:custGeom>
            <a:avLst/>
            <a:gdLst/>
            <a:ahLst/>
            <a:cxnLst/>
            <a:rect l="l" t="t" r="r" b="b"/>
            <a:pathLst>
              <a:path w="1533525" h="1714500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609850" y="3429000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82112" y="3556958"/>
            <a:ext cx="4645152" cy="491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56"/>
              </a:lnSpc>
            </a:pPr>
            <a:r>
              <a:rPr lang="en-US" sz="3040" b="1" dirty="0">
                <a:solidFill>
                  <a:srgbClr val="1B1E2F"/>
                </a:solidFill>
                <a:latin typeface="Barlow Ultra-Bold"/>
                <a:ea typeface="Barlow Ultra-Bold"/>
                <a:cs typeface="Barlow Ultra-Bold"/>
                <a:sym typeface="Barlow Ultra-Bold"/>
              </a:rPr>
              <a:t>BUSINESS &amp; ANALYTICS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44774" y="4185112"/>
            <a:ext cx="5047488" cy="77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 dirty="0">
                <a:solidFill>
                  <a:srgbClr val="1B1E2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Excel • Power BI • Business Analysis • Process Mapping</a:t>
            </a:r>
          </a:p>
        </p:txBody>
      </p:sp>
      <p:sp>
        <p:nvSpPr>
          <p:cNvPr id="10" name="Freeform 10"/>
          <p:cNvSpPr/>
          <p:nvPr/>
        </p:nvSpPr>
        <p:spPr>
          <a:xfrm>
            <a:off x="9144000" y="3000375"/>
            <a:ext cx="8496300" cy="2571750"/>
          </a:xfrm>
          <a:custGeom>
            <a:avLst/>
            <a:gdLst/>
            <a:ahLst/>
            <a:cxnLst/>
            <a:rect l="l" t="t" r="r" b="b"/>
            <a:pathLst>
              <a:path w="8496300" h="2571750">
                <a:moveTo>
                  <a:pt x="0" y="0"/>
                </a:moveTo>
                <a:lnTo>
                  <a:pt x="8496300" y="0"/>
                </a:lnTo>
                <a:lnTo>
                  <a:pt x="849630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Freeform 11"/>
          <p:cNvSpPr/>
          <p:nvPr/>
        </p:nvSpPr>
        <p:spPr>
          <a:xfrm>
            <a:off x="9353550" y="3429000"/>
            <a:ext cx="1533525" cy="1714500"/>
          </a:xfrm>
          <a:custGeom>
            <a:avLst/>
            <a:gdLst/>
            <a:ahLst/>
            <a:cxnLst/>
            <a:rect l="l" t="t" r="r" b="b"/>
            <a:pathLst>
              <a:path w="1533525" h="1714500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77550" y="3429000"/>
            <a:ext cx="228600" cy="1714500"/>
          </a:xfrm>
          <a:custGeom>
            <a:avLst/>
            <a:gdLst/>
            <a:ahLst/>
            <a:cxnLst/>
            <a:rect l="l" t="t" r="r" b="b"/>
            <a:pathLst>
              <a:path w="228600" h="1714500">
                <a:moveTo>
                  <a:pt x="0" y="0"/>
                </a:moveTo>
                <a:lnTo>
                  <a:pt x="228600" y="0"/>
                </a:lnTo>
                <a:lnTo>
                  <a:pt x="228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466576" y="3380403"/>
            <a:ext cx="4856988" cy="5043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28"/>
              </a:lnSpc>
            </a:pPr>
            <a:r>
              <a:rPr lang="en-US" sz="3163" b="1" dirty="0">
                <a:solidFill>
                  <a:srgbClr val="1B1E2F"/>
                </a:solidFill>
                <a:latin typeface="Barlow Ultra-Bold"/>
                <a:ea typeface="Barlow Ultra-Bold"/>
                <a:cs typeface="Barlow Ultra-Bold"/>
                <a:sym typeface="Barlow Ultra-Bold"/>
              </a:rPr>
              <a:t>PEOPLE &amp; MANAGEMENT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66576" y="3985149"/>
            <a:ext cx="5271135" cy="1313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198" b="1" dirty="0">
                <a:solidFill>
                  <a:srgbClr val="1B1E2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Stakeholder Interaction • Team Coordination • Conflict Handling • Decision-Making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647700" y="5572125"/>
            <a:ext cx="8496300" cy="2362200"/>
          </a:xfrm>
          <a:custGeom>
            <a:avLst/>
            <a:gdLst/>
            <a:ahLst/>
            <a:cxnLst/>
            <a:rect l="l" t="t" r="r" b="b"/>
            <a:pathLst>
              <a:path w="8496300" h="2362200">
                <a:moveTo>
                  <a:pt x="0" y="0"/>
                </a:moveTo>
                <a:lnTo>
                  <a:pt x="8496300" y="0"/>
                </a:lnTo>
                <a:lnTo>
                  <a:pt x="8496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85850" y="600075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609850" y="6000750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182112" y="6065571"/>
            <a:ext cx="4645152" cy="54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7"/>
              </a:lnSpc>
            </a:pPr>
            <a:r>
              <a:rPr lang="en-US" sz="3183" b="1" dirty="0">
                <a:solidFill>
                  <a:srgbClr val="1B1E2F"/>
                </a:solidFill>
                <a:latin typeface="Barlow Ultra-Bold"/>
                <a:ea typeface="Barlow Ultra-Bold"/>
                <a:cs typeface="Barlow Ultra-Bold"/>
                <a:sym typeface="Barlow Ultra-Bold"/>
              </a:rPr>
              <a:t>MARKETING &amp; CONSUMER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198876" y="6613087"/>
            <a:ext cx="4463796" cy="1135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 dirty="0">
                <a:solidFill>
                  <a:srgbClr val="1B1E2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STP • Consumer Insights • Brand Positioning • Journey Mapping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0" y="5572125"/>
            <a:ext cx="8496300" cy="2362200"/>
          </a:xfrm>
          <a:custGeom>
            <a:avLst/>
            <a:gdLst/>
            <a:ahLst/>
            <a:cxnLst/>
            <a:rect l="l" t="t" r="r" b="b"/>
            <a:pathLst>
              <a:path w="8496300" h="2362200">
                <a:moveTo>
                  <a:pt x="0" y="0"/>
                </a:moveTo>
                <a:lnTo>
                  <a:pt x="8496300" y="0"/>
                </a:lnTo>
                <a:lnTo>
                  <a:pt x="84963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353550" y="600075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877550" y="6000750"/>
            <a:ext cx="228600" cy="1504950"/>
          </a:xfrm>
          <a:custGeom>
            <a:avLst/>
            <a:gdLst/>
            <a:ahLst/>
            <a:cxnLst/>
            <a:rect l="l" t="t" r="r" b="b"/>
            <a:pathLst>
              <a:path w="228600" h="1504950">
                <a:moveTo>
                  <a:pt x="0" y="0"/>
                </a:moveTo>
                <a:lnTo>
                  <a:pt x="228600" y="0"/>
                </a:lnTo>
                <a:lnTo>
                  <a:pt x="228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1466576" y="6075356"/>
            <a:ext cx="3163824" cy="537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6"/>
              </a:lnSpc>
            </a:pPr>
            <a:r>
              <a:rPr lang="en-US" sz="3204" b="1">
                <a:solidFill>
                  <a:srgbClr val="1B1E2F"/>
                </a:solidFill>
                <a:latin typeface="Barlow Ultra-Bold"/>
                <a:ea typeface="Barlow Ultra-Bold"/>
                <a:cs typeface="Barlow Ultra-Bold"/>
                <a:sym typeface="Barlow Ultra-Bold"/>
              </a:rPr>
              <a:t>COMMUNICATION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66576" y="6609846"/>
            <a:ext cx="3968496" cy="773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 dirty="0">
                <a:solidFill>
                  <a:srgbClr val="1B1E2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Presentations • Research • Interviewing • Report Writing</a:t>
            </a:r>
          </a:p>
        </p:txBody>
      </p:sp>
      <p:sp>
        <p:nvSpPr>
          <p:cNvPr id="25" name="Freeform 25"/>
          <p:cNvSpPr/>
          <p:nvPr/>
        </p:nvSpPr>
        <p:spPr>
          <a:xfrm>
            <a:off x="647700" y="7924800"/>
            <a:ext cx="16992600" cy="1724025"/>
          </a:xfrm>
          <a:custGeom>
            <a:avLst/>
            <a:gdLst/>
            <a:ahLst/>
            <a:cxnLst/>
            <a:rect l="l" t="t" r="r" b="b"/>
            <a:pathLst>
              <a:path w="16992600" h="1724025">
                <a:moveTo>
                  <a:pt x="0" y="0"/>
                </a:moveTo>
                <a:lnTo>
                  <a:pt x="16992600" y="0"/>
                </a:lnTo>
                <a:lnTo>
                  <a:pt x="16992600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304925" y="8353425"/>
            <a:ext cx="1095375" cy="1076325"/>
          </a:xfrm>
          <a:custGeom>
            <a:avLst/>
            <a:gdLst/>
            <a:ahLst/>
            <a:cxnLst/>
            <a:rect l="l" t="t" r="r" b="b"/>
            <a:pathLst>
              <a:path w="1095375" h="107632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609850" y="8353425"/>
            <a:ext cx="228600" cy="1076325"/>
          </a:xfrm>
          <a:custGeom>
            <a:avLst/>
            <a:gdLst/>
            <a:ahLst/>
            <a:cxnLst/>
            <a:rect l="l" t="t" r="r" b="b"/>
            <a:pathLst>
              <a:path w="228600" h="1076325">
                <a:moveTo>
                  <a:pt x="0" y="0"/>
                </a:moveTo>
                <a:lnTo>
                  <a:pt x="228600" y="0"/>
                </a:lnTo>
                <a:lnTo>
                  <a:pt x="228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3182112" y="8304764"/>
            <a:ext cx="2176272" cy="44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1">
                <a:solidFill>
                  <a:srgbClr val="8F4F2C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Built through: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182112" y="8846570"/>
            <a:ext cx="12728448" cy="375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2095" b="1">
                <a:solidFill>
                  <a:srgbClr val="1B1E2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Family Business • Certifications • Business Analysis Simulation • Academic Projects • Fieldwork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656" y="602431"/>
            <a:ext cx="16184880" cy="110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79"/>
              </a:lnSpc>
            </a:pPr>
            <a:r>
              <a:rPr lang="en-US" sz="8379" spc="-293">
                <a:solidFill>
                  <a:srgbClr val="90553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Me |  Where I'm Headed</a:t>
            </a:r>
          </a:p>
        </p:txBody>
      </p:sp>
      <p:sp>
        <p:nvSpPr>
          <p:cNvPr id="4" name="Freeform 4"/>
          <p:cNvSpPr/>
          <p:nvPr/>
        </p:nvSpPr>
        <p:spPr>
          <a:xfrm>
            <a:off x="428625" y="1714500"/>
            <a:ext cx="4143375" cy="4933950"/>
          </a:xfrm>
          <a:custGeom>
            <a:avLst/>
            <a:gdLst/>
            <a:ahLst/>
            <a:cxnLst/>
            <a:rect l="l" t="t" r="r" b="b"/>
            <a:pathLst>
              <a:path w="4143375" h="4933950">
                <a:moveTo>
                  <a:pt x="0" y="0"/>
                </a:moveTo>
                <a:lnTo>
                  <a:pt x="4143375" y="0"/>
                </a:lnTo>
                <a:lnTo>
                  <a:pt x="4143375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33550" y="2143125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773936" y="3555647"/>
            <a:ext cx="1554480" cy="435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Resilience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8720" y="4573357"/>
            <a:ext cx="2779776" cy="1917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Adapted through setbacks, change and new challenges while continuing to move forward.</a:t>
            </a:r>
          </a:p>
        </p:txBody>
      </p:sp>
      <p:sp>
        <p:nvSpPr>
          <p:cNvPr id="9" name="Freeform 9"/>
          <p:cNvSpPr/>
          <p:nvPr/>
        </p:nvSpPr>
        <p:spPr>
          <a:xfrm>
            <a:off x="4572000" y="1714500"/>
            <a:ext cx="4362450" cy="4933950"/>
          </a:xfrm>
          <a:custGeom>
            <a:avLst/>
            <a:gdLst/>
            <a:ahLst/>
            <a:cxnLst/>
            <a:rect l="l" t="t" r="r" b="b"/>
            <a:pathLst>
              <a:path w="4362450" h="49339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096000" y="2143125"/>
            <a:ext cx="1524000" cy="1504950"/>
          </a:xfrm>
          <a:custGeom>
            <a:avLst/>
            <a:gdLst/>
            <a:ahLst/>
            <a:cxnLst/>
            <a:rect l="l" t="t" r="r" b="b"/>
            <a:pathLst>
              <a:path w="1524000" h="1504950">
                <a:moveTo>
                  <a:pt x="0" y="0"/>
                </a:moveTo>
                <a:lnTo>
                  <a:pt x="1524000" y="0"/>
                </a:lnTo>
                <a:lnTo>
                  <a:pt x="15240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98464" y="3579072"/>
            <a:ext cx="1627632" cy="40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1"/>
              </a:lnSpc>
            </a:pPr>
            <a:r>
              <a:rPr lang="en-US" sz="2336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Ownership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58384" y="4568404"/>
            <a:ext cx="2926080" cy="1536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5"/>
              </a:lnSpc>
            </a:pPr>
            <a:r>
              <a:rPr lang="en-US" sz="2146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Take responsibility and follow through, shaped by my family business experience.</a:t>
            </a:r>
          </a:p>
        </p:txBody>
      </p:sp>
      <p:sp>
        <p:nvSpPr>
          <p:cNvPr id="14" name="Freeform 14"/>
          <p:cNvSpPr/>
          <p:nvPr/>
        </p:nvSpPr>
        <p:spPr>
          <a:xfrm>
            <a:off x="8924925" y="1714500"/>
            <a:ext cx="4362450" cy="4933950"/>
          </a:xfrm>
          <a:custGeom>
            <a:avLst/>
            <a:gdLst/>
            <a:ahLst/>
            <a:cxnLst/>
            <a:rect l="l" t="t" r="r" b="b"/>
            <a:pathLst>
              <a:path w="4362450" h="49339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Freeform 15"/>
          <p:cNvSpPr/>
          <p:nvPr/>
        </p:nvSpPr>
        <p:spPr>
          <a:xfrm>
            <a:off x="10448925" y="2143125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436608" y="3565559"/>
            <a:ext cx="3456432" cy="849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6"/>
              </a:lnSpc>
            </a:pPr>
            <a:r>
              <a:rPr lang="en-US" sz="2397" b="1" dirty="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People Understanding</a:t>
            </a:r>
          </a:p>
          <a:p>
            <a:pPr algn="ctr">
              <a:lnSpc>
                <a:spcPts val="3356"/>
              </a:lnSpc>
            </a:pPr>
            <a:endParaRPr lang="en-US" sz="2397" b="1" dirty="0">
              <a:solidFill>
                <a:srgbClr val="000000"/>
              </a:solidFill>
              <a:latin typeface="Poppins Semi-Bold"/>
              <a:ea typeface="Poppins Semi-Bold"/>
              <a:cs typeface="Poppins Semi-Bold"/>
              <a:sym typeface="Poppins Semi-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473184" y="4559534"/>
            <a:ext cx="3401568" cy="156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</a:pPr>
            <a:r>
              <a:rPr lang="en-US" sz="2198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Interested in how</a:t>
            </a:r>
          </a:p>
          <a:p>
            <a:pPr algn="ctr">
              <a:lnSpc>
                <a:spcPts val="3077"/>
              </a:lnSpc>
            </a:pPr>
            <a:r>
              <a:rPr lang="en-US" sz="2198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people think, communicate and work within </a:t>
            </a:r>
            <a:r>
              <a:rPr lang="en-US" sz="2198" b="1" dirty="0" err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organisations</a:t>
            </a:r>
            <a:r>
              <a:rPr lang="en-US" sz="2198" b="1" dirty="0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3277850" y="1714500"/>
            <a:ext cx="4362450" cy="4933950"/>
          </a:xfrm>
          <a:custGeom>
            <a:avLst/>
            <a:gdLst/>
            <a:ahLst/>
            <a:cxnLst/>
            <a:rect l="l" t="t" r="r" b="b"/>
            <a:pathLst>
              <a:path w="4362450" h="4933950">
                <a:moveTo>
                  <a:pt x="0" y="0"/>
                </a:moveTo>
                <a:lnTo>
                  <a:pt x="4362450" y="0"/>
                </a:lnTo>
                <a:lnTo>
                  <a:pt x="43624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801850" y="2143125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3990320" y="3565559"/>
            <a:ext cx="3054096" cy="42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6"/>
              </a:lnSpc>
            </a:pPr>
            <a:r>
              <a:rPr lang="en-US" sz="2397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Analytical Curiosity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880592" y="4615047"/>
            <a:ext cx="3218688" cy="145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sz="2069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Enjoy breaking down problems and connecting concepts to real business situations.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428625" y="6638925"/>
            <a:ext cx="17211675" cy="1933575"/>
          </a:xfrm>
          <a:custGeom>
            <a:avLst/>
            <a:gdLst/>
            <a:ahLst/>
            <a:cxnLst/>
            <a:rect l="l" t="t" r="r" b="b"/>
            <a:pathLst>
              <a:path w="17211675" h="1933575">
                <a:moveTo>
                  <a:pt x="0" y="0"/>
                </a:moveTo>
                <a:lnTo>
                  <a:pt x="17211675" y="0"/>
                </a:lnTo>
                <a:lnTo>
                  <a:pt x="172116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304925" y="685800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2828925" y="6858000"/>
            <a:ext cx="438150" cy="1285875"/>
          </a:xfrm>
          <a:custGeom>
            <a:avLst/>
            <a:gdLst/>
            <a:ahLst/>
            <a:cxnLst/>
            <a:rect l="l" t="t" r="r" b="b"/>
            <a:pathLst>
              <a:path w="438150" h="1285875">
                <a:moveTo>
                  <a:pt x="0" y="0"/>
                </a:moveTo>
                <a:lnTo>
                  <a:pt x="438150" y="0"/>
                </a:lnTo>
                <a:lnTo>
                  <a:pt x="43815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895344" y="6876282"/>
            <a:ext cx="3054096" cy="45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519" b="1">
                <a:solidFill>
                  <a:srgbClr val="90553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Where I'm headed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895344" y="7406146"/>
            <a:ext cx="8010144" cy="74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9"/>
              </a:lnSpc>
            </a:pPr>
            <a:r>
              <a:rPr lang="en-US" sz="2121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Building a career in HR and people-focused business roles, combining people understanding with business thinking.</a:t>
            </a:r>
          </a:p>
        </p:txBody>
      </p:sp>
      <p:sp>
        <p:nvSpPr>
          <p:cNvPr id="28" name="Freeform 28"/>
          <p:cNvSpPr/>
          <p:nvPr/>
        </p:nvSpPr>
        <p:spPr>
          <a:xfrm>
            <a:off x="428625" y="8353425"/>
            <a:ext cx="17211675" cy="1724025"/>
          </a:xfrm>
          <a:custGeom>
            <a:avLst/>
            <a:gdLst/>
            <a:ahLst/>
            <a:cxnLst/>
            <a:rect l="l" t="t" r="r" b="b"/>
            <a:pathLst>
              <a:path w="17211675" h="1724025">
                <a:moveTo>
                  <a:pt x="0" y="0"/>
                </a:moveTo>
                <a:lnTo>
                  <a:pt x="17211675" y="0"/>
                </a:lnTo>
                <a:lnTo>
                  <a:pt x="172116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304925" y="8572500"/>
            <a:ext cx="1533525" cy="1504950"/>
          </a:xfrm>
          <a:custGeom>
            <a:avLst/>
            <a:gdLst/>
            <a:ahLst/>
            <a:cxnLst/>
            <a:rect l="l" t="t" r="r" b="b"/>
            <a:pathLst>
              <a:path w="1533525" h="1504950">
                <a:moveTo>
                  <a:pt x="0" y="0"/>
                </a:moveTo>
                <a:lnTo>
                  <a:pt x="1533525" y="0"/>
                </a:lnTo>
                <a:lnTo>
                  <a:pt x="15335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2828925" y="8782050"/>
            <a:ext cx="438150" cy="1076325"/>
          </a:xfrm>
          <a:custGeom>
            <a:avLst/>
            <a:gdLst/>
            <a:ahLst/>
            <a:cxnLst/>
            <a:rect l="l" t="t" r="r" b="b"/>
            <a:pathLst>
              <a:path w="438150" h="1076325">
                <a:moveTo>
                  <a:pt x="0" y="0"/>
                </a:moveTo>
                <a:lnTo>
                  <a:pt x="438150" y="0"/>
                </a:lnTo>
                <a:lnTo>
                  <a:pt x="4381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895344" y="8799951"/>
            <a:ext cx="3730752" cy="459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7"/>
              </a:lnSpc>
            </a:pPr>
            <a:r>
              <a:rPr lang="en-US" sz="2519" b="1">
                <a:solidFill>
                  <a:srgbClr val="90553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I seek from CMP: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895344" y="9368189"/>
            <a:ext cx="9857232" cy="392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17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Industry exposure • Mentorship • Practical learning • Personal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47700" y="4714875"/>
            <a:ext cx="9810750" cy="219075"/>
          </a:xfrm>
          <a:custGeom>
            <a:avLst/>
            <a:gdLst/>
            <a:ahLst/>
            <a:cxnLst/>
            <a:rect l="l" t="t" r="r" b="b"/>
            <a:pathLst>
              <a:path w="9810750" h="219075">
                <a:moveTo>
                  <a:pt x="0" y="0"/>
                </a:moveTo>
                <a:lnTo>
                  <a:pt x="9810750" y="0"/>
                </a:lnTo>
                <a:lnTo>
                  <a:pt x="9810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47700" y="6000750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7700" y="6638925"/>
            <a:ext cx="666750" cy="647700"/>
          </a:xfrm>
          <a:custGeom>
            <a:avLst/>
            <a:gdLst/>
            <a:ahLst/>
            <a:cxnLst/>
            <a:rect l="l" t="t" r="r" b="b"/>
            <a:pathLst>
              <a:path w="666750" h="647700">
                <a:moveTo>
                  <a:pt x="0" y="0"/>
                </a:moveTo>
                <a:lnTo>
                  <a:pt x="666750" y="0"/>
                </a:lnTo>
                <a:lnTo>
                  <a:pt x="66675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47700" y="7286625"/>
            <a:ext cx="876300" cy="857250"/>
          </a:xfrm>
          <a:custGeom>
            <a:avLst/>
            <a:gdLst/>
            <a:ahLst/>
            <a:cxnLst/>
            <a:rect l="l" t="t" r="r" b="b"/>
            <a:pathLst>
              <a:path w="876300" h="857250">
                <a:moveTo>
                  <a:pt x="0" y="0"/>
                </a:moveTo>
                <a:lnTo>
                  <a:pt x="876300" y="0"/>
                </a:lnTo>
                <a:lnTo>
                  <a:pt x="8763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38992" y="819150"/>
            <a:ext cx="4220308" cy="4114800"/>
          </a:xfrm>
          <a:custGeom>
            <a:avLst/>
            <a:gdLst/>
            <a:ahLst/>
            <a:cxnLst/>
            <a:rect l="l" t="t" r="r" b="b"/>
            <a:pathLst>
              <a:path w="4220308" h="4114800">
                <a:moveTo>
                  <a:pt x="0" y="0"/>
                </a:moveTo>
                <a:lnTo>
                  <a:pt x="4220308" y="0"/>
                </a:lnTo>
                <a:lnTo>
                  <a:pt x="42203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98084" y="5837336"/>
            <a:ext cx="3494145" cy="3371850"/>
          </a:xfrm>
          <a:custGeom>
            <a:avLst/>
            <a:gdLst/>
            <a:ahLst/>
            <a:cxnLst/>
            <a:rect l="l" t="t" r="r" b="b"/>
            <a:pathLst>
              <a:path w="3494145" h="3371850">
                <a:moveTo>
                  <a:pt x="0" y="0"/>
                </a:moveTo>
                <a:lnTo>
                  <a:pt x="3494145" y="0"/>
                </a:lnTo>
                <a:lnTo>
                  <a:pt x="3494145" y="3371850"/>
                </a:lnTo>
                <a:lnTo>
                  <a:pt x="0" y="33718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938219" y="5532982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37647" y="2552813"/>
            <a:ext cx="2589296" cy="2162062"/>
          </a:xfrm>
          <a:custGeom>
            <a:avLst/>
            <a:gdLst/>
            <a:ahLst/>
            <a:cxnLst/>
            <a:rect l="l" t="t" r="r" b="b"/>
            <a:pathLst>
              <a:path w="2589296" h="2162062">
                <a:moveTo>
                  <a:pt x="0" y="0"/>
                </a:moveTo>
                <a:lnTo>
                  <a:pt x="2589296" y="0"/>
                </a:lnTo>
                <a:lnTo>
                  <a:pt x="2589296" y="2162062"/>
                </a:lnTo>
                <a:lnTo>
                  <a:pt x="0" y="2162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22960" y="1765363"/>
            <a:ext cx="7479792" cy="286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88"/>
              </a:lnSpc>
            </a:pPr>
            <a:r>
              <a:rPr lang="en-US" sz="9490" spc="474">
                <a:solidFill>
                  <a:srgbClr val="96582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LET'S CONNECT.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5133862"/>
            <a:ext cx="5760720" cy="717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4"/>
              </a:lnSpc>
            </a:pPr>
            <a:r>
              <a:rPr lang="en-US" sz="3996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Tanya Singh Chauhan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4208" y="6015704"/>
            <a:ext cx="3090672" cy="52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+91 98994 4300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64208" y="6704933"/>
            <a:ext cx="5870448" cy="52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28-tanya.chauhan@fiib.edu.in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4208" y="7404449"/>
            <a:ext cx="1572768" cy="1048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1" u="sng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  <a:hlinkClick r:id="rId11" tooltip="https://www.linkedin.com/in/tanya-chauhan-4231b6431?utm_source=chatgpt.com"/>
              </a:rPr>
              <a:t>LinkedIn</a:t>
            </a:r>
          </a:p>
          <a:p>
            <a:pPr algn="l">
              <a:lnSpc>
                <a:spcPts val="4147"/>
              </a:lnSpc>
            </a:pPr>
            <a:endParaRPr lang="en-US" sz="2962" b="1" u="sng">
              <a:solidFill>
                <a:srgbClr val="000000"/>
              </a:solidFill>
              <a:latin typeface="Poppins Medium"/>
              <a:ea typeface="Poppins Medium"/>
              <a:cs typeface="Poppins Medium"/>
              <a:sym typeface="Poppins Medium"/>
              <a:hlinkClick r:id="rId11" tooltip="https://www.linkedin.com/in/tanya-chauhan-4231b6431?utm_source=chatgpt.co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22960" y="8393711"/>
            <a:ext cx="6236208" cy="125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3"/>
              </a:lnSpc>
            </a:pPr>
            <a:r>
              <a:rPr lang="en-US" sz="3502" b="1">
                <a:solidFill>
                  <a:srgbClr val="96582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Learning. People. Business. And everything in between.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682</Words>
  <Application>Microsoft Office PowerPoint</Application>
  <PresentationFormat>Custom</PresentationFormat>
  <Paragraphs>109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Poppins Bold</vt:lpstr>
      <vt:lpstr>Barlow Condensed Bold</vt:lpstr>
      <vt:lpstr>Josefin Sans Semi-Bold</vt:lpstr>
      <vt:lpstr>HK Grotesk Semi-Bold</vt:lpstr>
      <vt:lpstr>Arial</vt:lpstr>
      <vt:lpstr>Barlow Ultra-Bold</vt:lpstr>
      <vt:lpstr>Poppins</vt:lpstr>
      <vt:lpstr>Poppins Semi-Bold</vt:lpstr>
      <vt:lpstr>Poppins Medium</vt:lpstr>
      <vt:lpstr>League Spartan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 MORGAN</dc:title>
  <cp:lastModifiedBy>Tanya Chauhan</cp:lastModifiedBy>
  <cp:revision>4</cp:revision>
  <dcterms:created xsi:type="dcterms:W3CDTF">2006-08-16T00:00:00Z</dcterms:created>
  <dcterms:modified xsi:type="dcterms:W3CDTF">2026-09-27T16:13:02Z</dcterms:modified>
  <dc:identifier>DAHWXueVXE8</dc:identifier>
</cp:coreProperties>
</file>